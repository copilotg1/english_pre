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~30 seconds]</a:t>
            </a:r>
          </a:p>
          <a:p/>
          <a:p>
            <a:r>
              <a:t>Good morning/afternoon, everyone! Today, I'd like to take you on a journey back in time — to an era that completely transformed the world as we know it.</a:t>
            </a:r>
          </a:p>
          <a:p/>
          <a:p>
            <a:r>
              <a:t>Imagine a world where everything was made by hand, where travel was limited to the speed of a horse, and where most people never ventured beyond their villages. Then, within just a few decades, everything changed. This is the story of the First Industrial Revolution — the dawn of the Machine 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[OUTLINE — ~20 seconds]</a:t>
            </a:r>
          </a:p>
          <a:p/>
          <a:p>
            <a:r>
              <a:t>Here's a quick overview of what we'll cover in the next few minutes:</a:t>
            </a:r>
          </a:p>
          <a:p/>
          <a:p>
            <a:r>
              <a:t>First, we'll look at why the Industrial Revolution began in Britain. Then, we'll explore the key inventions that powered this transformation. After that, we'll see how the factory system emerged and changed how people worked. We'll also discuss the profound social impact it had on everyday lives. And finally, we'll reflect on its lasting global legacy.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[HISTORICAL BACKGROUND — ~1 minute]</a:t>
            </a:r>
          </a:p>
          <a:p/>
          <a:p>
            <a:r>
              <a:t>The First Industrial Revolution took place roughly between 1760 and 1840, and it began in Great Britain. But why Britain? Several factors came together to create the perfect conditions.</a:t>
            </a:r>
          </a:p>
          <a:p/>
          <a:p>
            <a:r>
              <a:t>First, Britain had abundant natural resources — especially coal and iron, which were essential for powering machines and building infrastructure.</a:t>
            </a:r>
          </a:p>
          <a:p/>
          <a:p>
            <a:r>
              <a:t>Second, Britain had a relatively stable political system and a strong banking sector that could provide the capital needed for investment in new technologies.</a:t>
            </a:r>
          </a:p>
          <a:p/>
          <a:p>
            <a:r>
              <a:t>Third, the British Empire gave manufacturers access to vast supplies of raw materials from colonies, and also provided enormous markets to sell their finished goods.</a:t>
            </a:r>
          </a:p>
          <a:p/>
          <a:p>
            <a:r>
              <a:t>Fourth, there was a thriving culture of scientific curiosity and practical invention. Thinkers and tinkerers were encouraged, not suppressed.</a:t>
            </a:r>
          </a:p>
          <a:p/>
          <a:p>
            <a:r>
              <a:t>And finally, the Agricultural Revolution — which had been transforming farming in the decades before — had freed up a large labor force. People who were no longer needed on farms moved to cities, ready to work in the new factories.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INVENTIONS — ~1.5 minutes]</a:t>
            </a:r>
          </a:p>
          <a:p/>
          <a:p>
            <a:r>
              <a:t>Now let's look at the machines that made this revolution possible.</a:t>
            </a:r>
          </a:p>
          <a:p/>
          <a:p>
            <a:r>
              <a:t>Perhaps the most iconic invention was the steam engine, perfected by James Watt in 1769. While earlier versions existed, Watt's improvements made it practical and efficient. The steam engine could power factories, pump water from mines, and eventually drive locomotives and ships. It was truly the engine of the Industrial Revolution.</a:t>
            </a:r>
          </a:p>
          <a:p/>
          <a:p>
            <a:r>
              <a:t>In textiles — which was the leading industry of the revolution — the Spinning Jenny, invented by James Hargreaves in 1764, was a game-changer. Before this, spinning thread was painfully slow, done one spindle at a time. The Spinning Jenny allowed a single worker to operate eight spindles at once, later even more. This dramatically increased yarn production.</a:t>
            </a:r>
          </a:p>
          <a:p/>
          <a:p>
            <a:r>
              <a:t>Then came the Power Loom, invented by Edmund Cartwright in 1785. This machine mechanized the weaving process, which had previously been done entirely by hand. The power loom could produce cloth much faster and at much lower cost, making textiles one of Britain's biggest exports.</a:t>
            </a:r>
          </a:p>
          <a:p/>
          <a:p>
            <a:r>
              <a:t>These three inventions — among many others — formed the technological backbone of the Industrial Revolution.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[FACTORY SYSTEM — ~1 minute]</a:t>
            </a:r>
          </a:p>
          <a:p/>
          <a:p>
            <a:r>
              <a:t>With these new machines came a completely new way of organizing work — the factory system.</a:t>
            </a:r>
          </a:p>
          <a:p/>
          <a:p>
            <a:r>
              <a:t>Before the Industrial Revolution, most goods were produced under what we call the "cottage industry" or "domestic system." Families worked at home using hand tools. Production was slow, small-scale, and products were mainly sold in local markets.</a:t>
            </a:r>
          </a:p>
          <a:p/>
          <a:p>
            <a:r>
              <a:t>But the new machines were too large and too expensive for individual homes. They needed to be housed in large buildings — factories — powered by water or steam. Workers had to come to the factory, rather than working at home.</a:t>
            </a:r>
          </a:p>
          <a:p/>
          <a:p>
            <a:r>
              <a:t>This was a fundamental shift. For the first time in history, large numbers of people gathered in one place to work together on specialized tasks. There were fixed working hours — often 12 to 16 hours a day — and strict rules. The pace of work was set by the machine, not by the worker.</a:t>
            </a:r>
          </a:p>
          <a:p/>
          <a:p>
            <a:r>
              <a:t>The factory system enabled mass production. Goods could be made faster, cheaper, and in far greater quantities than ever before. This drove down prices and made products available to more people — but it came at a significant human cost.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 IMPACT — ~1 minute]</a:t>
            </a:r>
          </a:p>
          <a:p/>
          <a:p>
            <a:r>
              <a:t>The Industrial Revolution brought both remarkable progress and serious problems — light and shadow.</a:t>
            </a:r>
          </a:p>
          <a:p/>
          <a:p>
            <a:r>
              <a:t>On the positive side, cities grew rapidly as people moved in search of factory jobs. This urbanization created vibrant new communities and economic opportunities. Goods became cheaper and more accessible. The railway system, one of the revolution's greatest achievements, connected cities and shrank distances. And importantly, a new middle class emerged — factory owners, managers, engineers — who would shape modern society.</a:t>
            </a:r>
          </a:p>
          <a:p/>
          <a:p>
            <a:r>
              <a:t>But there was a very dark side too. Factory conditions were often terrible — dangerous machines, poor ventilation, and exhausting hours. Children as young as five or six worked in mines and factories. Cities became overcrowded and polluted. Workers earned very low wages while factory owners grew wealthy. Many skilled craftsmen — weavers, blacksmiths, shoemakers — found their livelihoods destroyed by machines.</a:t>
            </a:r>
          </a:p>
          <a:p/>
          <a:p>
            <a:r>
              <a:t>These problems eventually led to important reforms: labor laws, child protection acts, trade unions, and public health regulations. The struggle for workers' rights that began during this era continues to shape our world today.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LEGACY — ~40 seconds]</a:t>
            </a:r>
          </a:p>
          <a:p/>
          <a:p>
            <a:r>
              <a:t>So why does the First Industrial Revolution still matter today?</a:t>
            </a:r>
          </a:p>
          <a:p/>
          <a:p>
            <a:r>
              <a:t>It set the template for every industrial revolution that followed — the Second Industrial Revolution of steel and electricity, the Third of computers and the internet, and now the Fourth Industrial Revolution of artificial intelligence and automation.</a:t>
            </a:r>
          </a:p>
          <a:p/>
          <a:p>
            <a:r>
              <a:t>It was the beginning of globalization as we know it — connecting economies, cultures, and peoples around the world through trade and technology.</a:t>
            </a:r>
          </a:p>
          <a:p/>
          <a:p>
            <a:r>
              <a:t>It fundamentally shaped how we live today — in cities, working in specialized jobs, commuting, consuming mass-produced goods.</a:t>
            </a:r>
          </a:p>
          <a:p/>
          <a:p>
            <a:r>
              <a:t>And critically, the social and environmental challenges it created are still with us. The debates about workers' rights, inequality, and environmental protection that started in the 1800s are very much alive in 2024.</a:t>
            </a:r>
          </a:p>
          <a:p/>
          <a:p>
            <a:r>
              <a:t>As the historian Eric Hobsbawm put it, the Industrial Revolution was perhaps "the most important event in human history since the domestication of animals and plants." That's quite a statement — but when you consider how completely it transformed every aspect of human life, it's hard to disagree.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[CONCLUSION — ~30 seconds]</a:t>
            </a:r>
          </a:p>
          <a:p/>
          <a:p>
            <a:r>
              <a:t>To wrap up, let me leave you with five key takeaways:</a:t>
            </a:r>
          </a:p>
          <a:p/>
          <a:p>
            <a:r>
              <a:t>First, the First Industrial Revolution took place from roughly 1760 to 1840 and originated in Britain, thanks to its unique combination of resources, capital, and innovation.</a:t>
            </a:r>
          </a:p>
          <a:p/>
          <a:p>
            <a:r>
              <a:t>Second, inventions like the steam engine, the Spinning Jenny, and the power loom were the driving forces of this transformation.</a:t>
            </a:r>
          </a:p>
          <a:p/>
          <a:p>
            <a:r>
              <a:t>Third, the factory system fundamentally changed how people worked — from homes to centralized workplaces.</a:t>
            </a:r>
          </a:p>
          <a:p/>
          <a:p>
            <a:r>
              <a:t>Fourth, the revolution brought both incredible progress and significant human suffering — a reminder that technological change always has two sides.</a:t>
            </a:r>
          </a:p>
          <a:p/>
          <a:p>
            <a:r>
              <a:t>And fifth, the legacy of the First Industrial Revolution is all around us. It shaped the modern world and set the stage for every technological revolution that followed.</a:t>
            </a:r>
          </a:p>
          <a:p/>
          <a:p>
            <a:r>
              <a:t>Thank you for listening! I'd be happy to answer any questions or hear your thoughts on this topic.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9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144000" cy="1097280"/>
          </a:xfrm>
          <a:prstGeom prst="rect">
            <a:avLst/>
          </a:prstGeom>
          <a:noFill/>
        </p:spPr>
        <p:txBody>
          <a:bodyPr wrap="square">
            <a:spAutoFit/>
          </a:bodyPr>
          <a:lstStyle/>
          <a:p>
            <a:pPr algn="ctr">
              <a:defRPr sz="4400" b="1">
                <a:solidFill>
                  <a:srgbClr val="FFFFFF"/>
                </a:solidFill>
                <a:latin typeface="Calibri"/>
              </a:defRPr>
            </a:pPr>
            <a:r>
              <a:t>The First Industrial Revolution</a:t>
            </a:r>
          </a:p>
        </p:txBody>
      </p:sp>
      <p:sp>
        <p:nvSpPr>
          <p:cNvPr id="4" name="TextBox 3"/>
          <p:cNvSpPr txBox="1"/>
          <p:nvPr/>
        </p:nvSpPr>
        <p:spPr>
          <a:xfrm>
            <a:off x="1371600" y="2834640"/>
            <a:ext cx="9144000" cy="731520"/>
          </a:xfrm>
          <a:prstGeom prst="rect">
            <a:avLst/>
          </a:prstGeom>
          <a:noFill/>
        </p:spPr>
        <p:txBody>
          <a:bodyPr wrap="square">
            <a:spAutoFit/>
          </a:bodyPr>
          <a:lstStyle/>
          <a:p>
            <a:pPr algn="ctr">
              <a:defRPr sz="2800" b="0">
                <a:solidFill>
                  <a:srgbClr val="E89B3A"/>
                </a:solidFill>
                <a:latin typeface="Calibri"/>
              </a:defRPr>
            </a:pPr>
            <a:r>
              <a:t>The Dawn of the Machine Age</a:t>
            </a:r>
          </a:p>
        </p:txBody>
      </p:sp>
      <p:sp>
        <p:nvSpPr>
          <p:cNvPr id="5" name="Rectangle 4"/>
          <p:cNvSpPr/>
          <p:nvPr/>
        </p:nvSpPr>
        <p:spPr>
          <a:xfrm>
            <a:off x="4114800" y="3657600"/>
            <a:ext cx="3657600" cy="38100"/>
          </a:xfrm>
          <a:prstGeom prst="rect">
            <a:avLst/>
          </a:prstGeom>
          <a:solidFill>
            <a:srgbClr val="E89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4114800"/>
            <a:ext cx="9144000" cy="548640"/>
          </a:xfrm>
          <a:prstGeom prst="rect">
            <a:avLst/>
          </a:prstGeom>
          <a:noFill/>
        </p:spPr>
        <p:txBody>
          <a:bodyPr wrap="square">
            <a:spAutoFit/>
          </a:bodyPr>
          <a:lstStyle/>
          <a:p>
            <a:pPr algn="ctr">
              <a:defRPr sz="1800" b="0">
                <a:solidFill>
                  <a:srgbClr val="AABBCC"/>
                </a:solidFill>
                <a:latin typeface="Calibri"/>
              </a:defRPr>
            </a:pPr>
            <a:r>
              <a:t>English Pre-class Speech</a:t>
            </a:r>
          </a:p>
        </p:txBody>
      </p:sp>
      <p:sp>
        <p:nvSpPr>
          <p:cNvPr id="7" name="TextBox 6"/>
          <p:cNvSpPr txBox="1"/>
          <p:nvPr/>
        </p:nvSpPr>
        <p:spPr>
          <a:xfrm>
            <a:off x="1371600" y="4663440"/>
            <a:ext cx="9144000" cy="548640"/>
          </a:xfrm>
          <a:prstGeom prst="rect">
            <a:avLst/>
          </a:prstGeom>
          <a:noFill/>
        </p:spPr>
        <p:txBody>
          <a:bodyPr wrap="square">
            <a:spAutoFit/>
          </a:bodyPr>
          <a:lstStyle/>
          <a:p>
            <a:pPr algn="ctr">
              <a:defRPr sz="1400" b="0">
                <a:solidFill>
                  <a:srgbClr val="CCCCCC"/>
                </a:solidFill>
                <a:latin typeface="Calibri"/>
              </a:defRPr>
            </a:pPr>
            <a:r>
              <a:t>Duration: ~6 minutes</a:t>
            </a:r>
          </a:p>
        </p:txBody>
      </p:sp>
      <p:sp>
        <p:nvSpPr>
          <p:cNvPr id="8" name="TextBox 7"/>
          <p:cNvSpPr txBox="1"/>
          <p:nvPr/>
        </p:nvSpPr>
        <p:spPr>
          <a:xfrm>
            <a:off x="10820095" y="6309360"/>
            <a:ext cx="1188720" cy="365760"/>
          </a:xfrm>
          <a:prstGeom prst="rect">
            <a:avLst/>
          </a:prstGeom>
          <a:noFill/>
        </p:spPr>
        <p:txBody>
          <a:bodyPr wrap="square">
            <a:spAutoFit/>
          </a:bodyPr>
          <a:lstStyle/>
          <a:p>
            <a:pPr algn="r">
              <a:defRPr sz="1100" b="0">
                <a:solidFill>
                  <a:srgbClr val="CCCCCC"/>
                </a:solidFill>
                <a:latin typeface="Calibri"/>
              </a:defRPr>
            </a:pPr>
            <a:r>
              <a:t>1 /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9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731520"/>
          </a:xfrm>
          <a:prstGeom prst="rect">
            <a:avLst/>
          </a:prstGeom>
          <a:noFill/>
        </p:spPr>
        <p:txBody>
          <a:bodyPr wrap="square">
            <a:spAutoFit/>
          </a:bodyPr>
          <a:lstStyle/>
          <a:p>
            <a:pPr algn="l">
              <a:defRPr sz="3400" b="1">
                <a:solidFill>
                  <a:srgbClr val="FFFFFF"/>
                </a:solidFill>
                <a:latin typeface="Calibri"/>
              </a:defRPr>
            </a:pPr>
            <a:r>
              <a:t>What We'll Cover Today</a:t>
            </a:r>
          </a:p>
        </p:txBody>
      </p:sp>
      <p:sp>
        <p:nvSpPr>
          <p:cNvPr id="4" name="Rectangle 3"/>
          <p:cNvSpPr/>
          <p:nvPr/>
        </p:nvSpPr>
        <p:spPr>
          <a:xfrm>
            <a:off x="731520" y="1188720"/>
            <a:ext cx="2743200" cy="38100"/>
          </a:xfrm>
          <a:prstGeom prst="rect">
            <a:avLst/>
          </a:prstGeom>
          <a:solidFill>
            <a:srgbClr val="E89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645920"/>
            <a:ext cx="9144000" cy="4114800"/>
          </a:xfrm>
          <a:prstGeom prst="rect">
            <a:avLst/>
          </a:prstGeom>
          <a:noFill/>
        </p:spPr>
        <p:txBody>
          <a:bodyPr wrap="square">
            <a:spAutoFit/>
          </a:bodyPr>
          <a:lstStyle/>
          <a:p>
            <a:pPr>
              <a:spcAft>
                <a:spcPts val="1600"/>
              </a:spcAft>
              <a:defRPr sz="2200">
                <a:solidFill>
                  <a:srgbClr val="CCCCCC"/>
                </a:solidFill>
                <a:latin typeface="Calibri"/>
              </a:defRPr>
            </a:pPr>
            <a:r>
              <a:t>📍  Historical Background — Why did it start in Britain?</a:t>
            </a:r>
          </a:p>
          <a:p>
            <a:pPr>
              <a:spcAft>
                <a:spcPts val="1600"/>
              </a:spcAft>
              <a:defRPr sz="2200">
                <a:solidFill>
                  <a:srgbClr val="CCCCCC"/>
                </a:solidFill>
                <a:latin typeface="Calibri"/>
              </a:defRPr>
            </a:pPr>
            <a:r>
              <a:t>⚙️  Key Inventions — The machines that changed everything</a:t>
            </a:r>
          </a:p>
          <a:p>
            <a:pPr>
              <a:spcAft>
                <a:spcPts val="1600"/>
              </a:spcAft>
              <a:defRPr sz="2200">
                <a:solidFill>
                  <a:srgbClr val="CCCCCC"/>
                </a:solidFill>
                <a:latin typeface="Calibri"/>
              </a:defRPr>
            </a:pPr>
            <a:r>
              <a:t>🏭  The Factory System — A new way of working</a:t>
            </a:r>
          </a:p>
          <a:p>
            <a:pPr>
              <a:spcAft>
                <a:spcPts val="1600"/>
              </a:spcAft>
              <a:defRPr sz="2200">
                <a:solidFill>
                  <a:srgbClr val="CCCCCC"/>
                </a:solidFill>
                <a:latin typeface="Calibri"/>
              </a:defRPr>
            </a:pPr>
            <a:r>
              <a:t>👥  Social Impact — How lives were transformed</a:t>
            </a:r>
          </a:p>
          <a:p>
            <a:pPr>
              <a:spcAft>
                <a:spcPts val="1600"/>
              </a:spcAft>
              <a:defRPr sz="2200">
                <a:solidFill>
                  <a:srgbClr val="CCCCCC"/>
                </a:solidFill>
                <a:latin typeface="Calibri"/>
              </a:defRPr>
            </a:pPr>
            <a:r>
              <a:t>🌍  Global Legacy — Why it still matters today</a:t>
            </a:r>
          </a:p>
        </p:txBody>
      </p:sp>
      <p:sp>
        <p:nvSpPr>
          <p:cNvPr id="6" name="TextBox 5"/>
          <p:cNvSpPr txBox="1"/>
          <p:nvPr/>
        </p:nvSpPr>
        <p:spPr>
          <a:xfrm>
            <a:off x="10820095" y="6309360"/>
            <a:ext cx="1188720" cy="365760"/>
          </a:xfrm>
          <a:prstGeom prst="rect">
            <a:avLst/>
          </a:prstGeom>
          <a:noFill/>
        </p:spPr>
        <p:txBody>
          <a:bodyPr wrap="square">
            <a:spAutoFit/>
          </a:bodyPr>
          <a:lstStyle/>
          <a:p>
            <a:pPr algn="r">
              <a:defRPr sz="1100" b="0">
                <a:solidFill>
                  <a:srgbClr val="CCCCCC"/>
                </a:solidFill>
                <a:latin typeface="Calibri"/>
              </a:defRPr>
            </a:pPr>
            <a:r>
              <a:t>2 /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9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9144000" cy="731520"/>
          </a:xfrm>
          <a:prstGeom prst="rect">
            <a:avLst/>
          </a:prstGeom>
          <a:noFill/>
        </p:spPr>
        <p:txBody>
          <a:bodyPr wrap="square">
            <a:spAutoFit/>
          </a:bodyPr>
          <a:lstStyle/>
          <a:p>
            <a:pPr algn="l">
              <a:defRPr sz="3400" b="1">
                <a:solidFill>
                  <a:srgbClr val="FFFFFF"/>
                </a:solidFill>
                <a:latin typeface="Calibri"/>
              </a:defRPr>
            </a:pPr>
            <a:r>
              <a:t>Historical Background</a:t>
            </a:r>
          </a:p>
        </p:txBody>
      </p:sp>
      <p:sp>
        <p:nvSpPr>
          <p:cNvPr id="4" name="Rectangle 3"/>
          <p:cNvSpPr/>
          <p:nvPr/>
        </p:nvSpPr>
        <p:spPr>
          <a:xfrm>
            <a:off x="731520" y="1188720"/>
            <a:ext cx="2743200" cy="38100"/>
          </a:xfrm>
          <a:prstGeom prst="rect">
            <a:avLst/>
          </a:prstGeom>
          <a:solidFill>
            <a:srgbClr val="E89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4572000" cy="457200"/>
          </a:xfrm>
          <a:prstGeom prst="rect">
            <a:avLst/>
          </a:prstGeom>
          <a:noFill/>
        </p:spPr>
        <p:txBody>
          <a:bodyPr wrap="square">
            <a:spAutoFit/>
          </a:bodyPr>
          <a:lstStyle/>
          <a:p>
            <a:pPr algn="l">
              <a:defRPr sz="1600" b="1">
                <a:solidFill>
                  <a:srgbClr val="E89B3A"/>
                </a:solidFill>
                <a:latin typeface="Calibri"/>
              </a:defRPr>
            </a:pPr>
            <a:r>
              <a:t>Period: 1760 – 1840  |  Origin: Great Britain</a:t>
            </a:r>
          </a:p>
        </p:txBody>
      </p:sp>
      <p:sp>
        <p:nvSpPr>
          <p:cNvPr id="6" name="TextBox 5"/>
          <p:cNvSpPr txBox="1"/>
          <p:nvPr/>
        </p:nvSpPr>
        <p:spPr>
          <a:xfrm>
            <a:off x="914400" y="2103120"/>
            <a:ext cx="9144000" cy="3657600"/>
          </a:xfrm>
          <a:prstGeom prst="rect">
            <a:avLst/>
          </a:prstGeom>
          <a:noFill/>
        </p:spPr>
        <p:txBody>
          <a:bodyPr wrap="square">
            <a:spAutoFit/>
          </a:bodyPr>
          <a:lstStyle/>
          <a:p>
            <a:pPr>
              <a:spcAft>
                <a:spcPts val="1400"/>
              </a:spcAft>
              <a:defRPr sz="2000">
                <a:solidFill>
                  <a:srgbClr val="CCCCCC"/>
                </a:solidFill>
                <a:latin typeface="Calibri"/>
              </a:defRPr>
            </a:pPr>
            <a:r>
              <a:t>🇬🇧  Britain had abundant coal and iron resources</a:t>
            </a:r>
          </a:p>
          <a:p>
            <a:pPr>
              <a:spcAft>
                <a:spcPts val="1400"/>
              </a:spcAft>
              <a:defRPr sz="2000">
                <a:solidFill>
                  <a:srgbClr val="CCCCCC"/>
                </a:solidFill>
                <a:latin typeface="Calibri"/>
              </a:defRPr>
            </a:pPr>
            <a:r>
              <a:t>🏦  A stable political system &amp; strong banking sector</a:t>
            </a:r>
          </a:p>
          <a:p>
            <a:pPr>
              <a:spcAft>
                <a:spcPts val="1400"/>
              </a:spcAft>
              <a:defRPr sz="2000">
                <a:solidFill>
                  <a:srgbClr val="CCCCCC"/>
                </a:solidFill>
                <a:latin typeface="Calibri"/>
              </a:defRPr>
            </a:pPr>
            <a:r>
              <a:t>🌊  An extensive empire providing raw materials &amp; markets</a:t>
            </a:r>
          </a:p>
          <a:p>
            <a:pPr>
              <a:spcAft>
                <a:spcPts val="1400"/>
              </a:spcAft>
              <a:defRPr sz="2000">
                <a:solidFill>
                  <a:srgbClr val="CCCCCC"/>
                </a:solidFill>
                <a:latin typeface="Calibri"/>
              </a:defRPr>
            </a:pPr>
            <a:r>
              <a:t>🔬  A culture of scientific inquiry and innovation</a:t>
            </a:r>
          </a:p>
          <a:p>
            <a:pPr>
              <a:spcAft>
                <a:spcPts val="1400"/>
              </a:spcAft>
              <a:defRPr sz="2000">
                <a:solidFill>
                  <a:srgbClr val="CCCCCC"/>
                </a:solidFill>
                <a:latin typeface="Calibri"/>
              </a:defRPr>
            </a:pPr>
            <a:r>
              <a:t>👨‍🌾  Agricultural Revolution freed labor for factories</a:t>
            </a:r>
          </a:p>
        </p:txBody>
      </p:sp>
      <p:sp>
        <p:nvSpPr>
          <p:cNvPr id="7" name="Rectangle 6"/>
          <p:cNvSpPr/>
          <p:nvPr/>
        </p:nvSpPr>
        <p:spPr>
          <a:xfrm>
            <a:off x="7772400" y="2286000"/>
            <a:ext cx="3840480" cy="320040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79" y="2468880"/>
            <a:ext cx="3474720" cy="457200"/>
          </a:xfrm>
          <a:prstGeom prst="rect">
            <a:avLst/>
          </a:prstGeom>
          <a:noFill/>
        </p:spPr>
        <p:txBody>
          <a:bodyPr wrap="square">
            <a:spAutoFit/>
          </a:bodyPr>
          <a:lstStyle/>
          <a:p>
            <a:pPr algn="l">
              <a:defRPr sz="2000" b="1">
                <a:solidFill>
                  <a:srgbClr val="E89B3A"/>
                </a:solidFill>
                <a:latin typeface="Calibri"/>
              </a:defRPr>
            </a:pPr>
            <a:r>
              <a:t>Why Britain?</a:t>
            </a:r>
          </a:p>
        </p:txBody>
      </p:sp>
      <p:sp>
        <p:nvSpPr>
          <p:cNvPr id="9" name="TextBox 8"/>
          <p:cNvSpPr txBox="1"/>
          <p:nvPr/>
        </p:nvSpPr>
        <p:spPr>
          <a:xfrm>
            <a:off x="7955279" y="3017520"/>
            <a:ext cx="3474720" cy="2286000"/>
          </a:xfrm>
          <a:prstGeom prst="rect">
            <a:avLst/>
          </a:prstGeom>
          <a:noFill/>
        </p:spPr>
        <p:txBody>
          <a:bodyPr wrap="square">
            <a:spAutoFit/>
          </a:bodyPr>
          <a:lstStyle/>
          <a:p>
            <a:pPr algn="l">
              <a:defRPr sz="1500" b="0">
                <a:solidFill>
                  <a:srgbClr val="CCCCCC"/>
                </a:solidFill>
                <a:latin typeface="Calibri"/>
              </a:defRPr>
            </a:pPr>
            <a:r>
              <a:t>Britain's unique combination of natural resources, capital, colonial markets, and intellectual freedom created the perfect conditions for industrial takeoff.</a:t>
            </a:r>
          </a:p>
        </p:txBody>
      </p:sp>
      <p:sp>
        <p:nvSpPr>
          <p:cNvPr id="10" name="TextBox 9"/>
          <p:cNvSpPr txBox="1"/>
          <p:nvPr/>
        </p:nvSpPr>
        <p:spPr>
          <a:xfrm>
            <a:off x="10820095" y="6309360"/>
            <a:ext cx="1188720" cy="365760"/>
          </a:xfrm>
          <a:prstGeom prst="rect">
            <a:avLst/>
          </a:prstGeom>
          <a:noFill/>
        </p:spPr>
        <p:txBody>
          <a:bodyPr wrap="square">
            <a:spAutoFit/>
          </a:bodyPr>
          <a:lstStyle/>
          <a:p>
            <a:pPr algn="r">
              <a:defRPr sz="1100" b="0">
                <a:solidFill>
                  <a:srgbClr val="CCCCCC"/>
                </a:solidFill>
                <a:latin typeface="Calibri"/>
              </a:defRPr>
            </a:pPr>
            <a:r>
              <a:t>3 /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9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9144000" cy="731520"/>
          </a:xfrm>
          <a:prstGeom prst="rect">
            <a:avLst/>
          </a:prstGeom>
          <a:noFill/>
        </p:spPr>
        <p:txBody>
          <a:bodyPr wrap="square">
            <a:spAutoFit/>
          </a:bodyPr>
          <a:lstStyle/>
          <a:p>
            <a:pPr algn="l">
              <a:defRPr sz="3400" b="1">
                <a:solidFill>
                  <a:srgbClr val="FFFFFF"/>
                </a:solidFill>
                <a:latin typeface="Calibri"/>
              </a:defRPr>
            </a:pPr>
            <a:r>
              <a:t>Key Inventions That Changed the World</a:t>
            </a:r>
          </a:p>
        </p:txBody>
      </p:sp>
      <p:sp>
        <p:nvSpPr>
          <p:cNvPr id="4" name="Rectangle 3"/>
          <p:cNvSpPr/>
          <p:nvPr/>
        </p:nvSpPr>
        <p:spPr>
          <a:xfrm>
            <a:off x="731520" y="1188720"/>
            <a:ext cx="2743200" cy="38100"/>
          </a:xfrm>
          <a:prstGeom prst="rect">
            <a:avLst/>
          </a:prstGeom>
          <a:solidFill>
            <a:srgbClr val="E89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3383280" cy="411480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2834640" cy="548640"/>
          </a:xfrm>
          <a:prstGeom prst="rect">
            <a:avLst/>
          </a:prstGeom>
          <a:noFill/>
        </p:spPr>
        <p:txBody>
          <a:bodyPr wrap="square">
            <a:spAutoFit/>
          </a:bodyPr>
          <a:lstStyle/>
          <a:p>
            <a:pPr algn="l">
              <a:defRPr sz="2200" b="1">
                <a:solidFill>
                  <a:srgbClr val="E89B3A"/>
                </a:solidFill>
                <a:latin typeface="Calibri"/>
              </a:defRPr>
            </a:pPr>
            <a:r>
              <a:t>The Steam Engine</a:t>
            </a:r>
          </a:p>
        </p:txBody>
      </p:sp>
      <p:sp>
        <p:nvSpPr>
          <p:cNvPr id="7" name="TextBox 6"/>
          <p:cNvSpPr txBox="1"/>
          <p:nvPr/>
        </p:nvSpPr>
        <p:spPr>
          <a:xfrm>
            <a:off x="1005840" y="2377440"/>
            <a:ext cx="2834640" cy="365760"/>
          </a:xfrm>
          <a:prstGeom prst="rect">
            <a:avLst/>
          </a:prstGeom>
          <a:noFill/>
        </p:spPr>
        <p:txBody>
          <a:bodyPr wrap="square">
            <a:spAutoFit/>
          </a:bodyPr>
          <a:lstStyle/>
          <a:p>
            <a:pPr algn="l">
              <a:defRPr sz="1400" b="1">
                <a:solidFill>
                  <a:srgbClr val="CCCCCC"/>
                </a:solidFill>
                <a:latin typeface="Calibri"/>
              </a:defRPr>
            </a:pPr>
            <a:r>
              <a:t>James Watt (1769)</a:t>
            </a:r>
          </a:p>
        </p:txBody>
      </p:sp>
      <p:sp>
        <p:nvSpPr>
          <p:cNvPr id="8" name="Rectangle 7"/>
          <p:cNvSpPr/>
          <p:nvPr/>
        </p:nvSpPr>
        <p:spPr>
          <a:xfrm>
            <a:off x="1005840" y="2834640"/>
            <a:ext cx="1828800" cy="38100"/>
          </a:xfrm>
          <a:prstGeom prst="rect">
            <a:avLst/>
          </a:prstGeom>
          <a:solidFill>
            <a:srgbClr val="E89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017520"/>
            <a:ext cx="2834640" cy="2286000"/>
          </a:xfrm>
          <a:prstGeom prst="rect">
            <a:avLst/>
          </a:prstGeom>
          <a:noFill/>
        </p:spPr>
        <p:txBody>
          <a:bodyPr wrap="square">
            <a:spAutoFit/>
          </a:bodyPr>
          <a:lstStyle/>
          <a:p>
            <a:pPr algn="l">
              <a:defRPr sz="1600" b="0">
                <a:solidFill>
                  <a:srgbClr val="FFFFFF"/>
                </a:solidFill>
                <a:latin typeface="Calibri"/>
              </a:defRPr>
            </a:pPr>
            <a:r>
              <a:t>Transformed energy production; powered factories, mines, and later trains and ships.</a:t>
            </a:r>
          </a:p>
        </p:txBody>
      </p:sp>
      <p:sp>
        <p:nvSpPr>
          <p:cNvPr id="10" name="Rectangle 9"/>
          <p:cNvSpPr/>
          <p:nvPr/>
        </p:nvSpPr>
        <p:spPr>
          <a:xfrm>
            <a:off x="4480559" y="1645920"/>
            <a:ext cx="3383280" cy="411480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79" y="1828800"/>
            <a:ext cx="2834640" cy="548640"/>
          </a:xfrm>
          <a:prstGeom prst="rect">
            <a:avLst/>
          </a:prstGeom>
          <a:noFill/>
        </p:spPr>
        <p:txBody>
          <a:bodyPr wrap="square">
            <a:spAutoFit/>
          </a:bodyPr>
          <a:lstStyle/>
          <a:p>
            <a:pPr algn="l">
              <a:defRPr sz="2200" b="1">
                <a:solidFill>
                  <a:srgbClr val="E89B3A"/>
                </a:solidFill>
                <a:latin typeface="Calibri"/>
              </a:defRPr>
            </a:pPr>
            <a:r>
              <a:t>The Spinning Jenny</a:t>
            </a:r>
          </a:p>
        </p:txBody>
      </p:sp>
      <p:sp>
        <p:nvSpPr>
          <p:cNvPr id="12" name="TextBox 11"/>
          <p:cNvSpPr txBox="1"/>
          <p:nvPr/>
        </p:nvSpPr>
        <p:spPr>
          <a:xfrm>
            <a:off x="4754879" y="2377440"/>
            <a:ext cx="2834640" cy="365760"/>
          </a:xfrm>
          <a:prstGeom prst="rect">
            <a:avLst/>
          </a:prstGeom>
          <a:noFill/>
        </p:spPr>
        <p:txBody>
          <a:bodyPr wrap="square">
            <a:spAutoFit/>
          </a:bodyPr>
          <a:lstStyle/>
          <a:p>
            <a:pPr algn="l">
              <a:defRPr sz="1400" b="1">
                <a:solidFill>
                  <a:srgbClr val="CCCCCC"/>
                </a:solidFill>
                <a:latin typeface="Calibri"/>
              </a:defRPr>
            </a:pPr>
            <a:r>
              <a:t>James Hargreaves (1764)</a:t>
            </a:r>
          </a:p>
        </p:txBody>
      </p:sp>
      <p:sp>
        <p:nvSpPr>
          <p:cNvPr id="13" name="Rectangle 12"/>
          <p:cNvSpPr/>
          <p:nvPr/>
        </p:nvSpPr>
        <p:spPr>
          <a:xfrm>
            <a:off x="4754879" y="2834640"/>
            <a:ext cx="1828800" cy="38100"/>
          </a:xfrm>
          <a:prstGeom prst="rect">
            <a:avLst/>
          </a:prstGeom>
          <a:solidFill>
            <a:srgbClr val="E89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79" y="3017520"/>
            <a:ext cx="2834640" cy="2286000"/>
          </a:xfrm>
          <a:prstGeom prst="rect">
            <a:avLst/>
          </a:prstGeom>
          <a:noFill/>
        </p:spPr>
        <p:txBody>
          <a:bodyPr wrap="square">
            <a:spAutoFit/>
          </a:bodyPr>
          <a:lstStyle/>
          <a:p>
            <a:pPr algn="l">
              <a:defRPr sz="1600" b="0">
                <a:solidFill>
                  <a:srgbClr val="FFFFFF"/>
                </a:solidFill>
                <a:latin typeface="Calibri"/>
              </a:defRPr>
            </a:pPr>
            <a:r>
              <a:t>Allowed one worker to operate multiple spindles, revolutionizing textile production.</a:t>
            </a:r>
          </a:p>
        </p:txBody>
      </p:sp>
      <p:sp>
        <p:nvSpPr>
          <p:cNvPr id="15" name="Rectangle 14"/>
          <p:cNvSpPr/>
          <p:nvPr/>
        </p:nvSpPr>
        <p:spPr>
          <a:xfrm>
            <a:off x="8229600" y="1645920"/>
            <a:ext cx="3383280" cy="411480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0" y="1828800"/>
            <a:ext cx="2834640" cy="548640"/>
          </a:xfrm>
          <a:prstGeom prst="rect">
            <a:avLst/>
          </a:prstGeom>
          <a:noFill/>
        </p:spPr>
        <p:txBody>
          <a:bodyPr wrap="square">
            <a:spAutoFit/>
          </a:bodyPr>
          <a:lstStyle/>
          <a:p>
            <a:pPr algn="l">
              <a:defRPr sz="2200" b="1">
                <a:solidFill>
                  <a:srgbClr val="E89B3A"/>
                </a:solidFill>
                <a:latin typeface="Calibri"/>
              </a:defRPr>
            </a:pPr>
            <a:r>
              <a:t>The Power Loom</a:t>
            </a:r>
          </a:p>
        </p:txBody>
      </p:sp>
      <p:sp>
        <p:nvSpPr>
          <p:cNvPr id="17" name="TextBox 16"/>
          <p:cNvSpPr txBox="1"/>
          <p:nvPr/>
        </p:nvSpPr>
        <p:spPr>
          <a:xfrm>
            <a:off x="8503920" y="2377440"/>
            <a:ext cx="2834640" cy="365760"/>
          </a:xfrm>
          <a:prstGeom prst="rect">
            <a:avLst/>
          </a:prstGeom>
          <a:noFill/>
        </p:spPr>
        <p:txBody>
          <a:bodyPr wrap="square">
            <a:spAutoFit/>
          </a:bodyPr>
          <a:lstStyle/>
          <a:p>
            <a:pPr algn="l">
              <a:defRPr sz="1400" b="1">
                <a:solidFill>
                  <a:srgbClr val="CCCCCC"/>
                </a:solidFill>
                <a:latin typeface="Calibri"/>
              </a:defRPr>
            </a:pPr>
            <a:r>
              <a:t>Edmund Cartwright (1785)</a:t>
            </a:r>
          </a:p>
        </p:txBody>
      </p:sp>
      <p:sp>
        <p:nvSpPr>
          <p:cNvPr id="18" name="Rectangle 17"/>
          <p:cNvSpPr/>
          <p:nvPr/>
        </p:nvSpPr>
        <p:spPr>
          <a:xfrm>
            <a:off x="8503920" y="2834640"/>
            <a:ext cx="1828800" cy="38100"/>
          </a:xfrm>
          <a:prstGeom prst="rect">
            <a:avLst/>
          </a:prstGeom>
          <a:solidFill>
            <a:srgbClr val="E89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0" y="3017520"/>
            <a:ext cx="2834640" cy="2286000"/>
          </a:xfrm>
          <a:prstGeom prst="rect">
            <a:avLst/>
          </a:prstGeom>
          <a:noFill/>
        </p:spPr>
        <p:txBody>
          <a:bodyPr wrap="square">
            <a:spAutoFit/>
          </a:bodyPr>
          <a:lstStyle/>
          <a:p>
            <a:pPr algn="l">
              <a:defRPr sz="1600" b="0">
                <a:solidFill>
                  <a:srgbClr val="FFFFFF"/>
                </a:solidFill>
                <a:latin typeface="Calibri"/>
              </a:defRPr>
            </a:pPr>
            <a:r>
              <a:t>Mechanized weaving, dramatically increasing cloth output and lowering costs.</a:t>
            </a:r>
          </a:p>
        </p:txBody>
      </p:sp>
      <p:sp>
        <p:nvSpPr>
          <p:cNvPr id="20" name="TextBox 19"/>
          <p:cNvSpPr txBox="1"/>
          <p:nvPr/>
        </p:nvSpPr>
        <p:spPr>
          <a:xfrm>
            <a:off x="10820095" y="6309360"/>
            <a:ext cx="1188720" cy="365760"/>
          </a:xfrm>
          <a:prstGeom prst="rect">
            <a:avLst/>
          </a:prstGeom>
          <a:noFill/>
        </p:spPr>
        <p:txBody>
          <a:bodyPr wrap="square">
            <a:spAutoFit/>
          </a:bodyPr>
          <a:lstStyle/>
          <a:p>
            <a:pPr algn="r">
              <a:defRPr sz="1100" b="0">
                <a:solidFill>
                  <a:srgbClr val="CCCCCC"/>
                </a:solidFill>
                <a:latin typeface="Calibri"/>
              </a:defRPr>
            </a:pPr>
            <a:r>
              <a:t>4 /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9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9144000" cy="731520"/>
          </a:xfrm>
          <a:prstGeom prst="rect">
            <a:avLst/>
          </a:prstGeom>
          <a:noFill/>
        </p:spPr>
        <p:txBody>
          <a:bodyPr wrap="square">
            <a:spAutoFit/>
          </a:bodyPr>
          <a:lstStyle/>
          <a:p>
            <a:pPr algn="l">
              <a:defRPr sz="3400" b="1">
                <a:solidFill>
                  <a:srgbClr val="FFFFFF"/>
                </a:solidFill>
                <a:latin typeface="Calibri"/>
              </a:defRPr>
            </a:pPr>
            <a:r>
              <a:t>The Rise of the Factory System</a:t>
            </a:r>
          </a:p>
        </p:txBody>
      </p:sp>
      <p:sp>
        <p:nvSpPr>
          <p:cNvPr id="4" name="Rectangle 3"/>
          <p:cNvSpPr/>
          <p:nvPr/>
        </p:nvSpPr>
        <p:spPr>
          <a:xfrm>
            <a:off x="731520" y="1188720"/>
            <a:ext cx="2743200" cy="38100"/>
          </a:xfrm>
          <a:prstGeom prst="rect">
            <a:avLst/>
          </a:prstGeom>
          <a:solidFill>
            <a:srgbClr val="E89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5029200" cy="438912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4572000" cy="548640"/>
          </a:xfrm>
          <a:prstGeom prst="rect">
            <a:avLst/>
          </a:prstGeom>
          <a:noFill/>
        </p:spPr>
        <p:txBody>
          <a:bodyPr wrap="square">
            <a:spAutoFit/>
          </a:bodyPr>
          <a:lstStyle/>
          <a:p>
            <a:pPr algn="l">
              <a:defRPr sz="2200" b="1">
                <a:solidFill>
                  <a:srgbClr val="E89B3A"/>
                </a:solidFill>
                <a:latin typeface="Calibri"/>
              </a:defRPr>
            </a:pPr>
            <a:r>
              <a:t>🏠  Before: Cottage Industry</a:t>
            </a:r>
          </a:p>
        </p:txBody>
      </p:sp>
      <p:sp>
        <p:nvSpPr>
          <p:cNvPr id="7" name="TextBox 6"/>
          <p:cNvSpPr txBox="1"/>
          <p:nvPr/>
        </p:nvSpPr>
        <p:spPr>
          <a:xfrm>
            <a:off x="1188720" y="2377440"/>
            <a:ext cx="4389120" cy="3200400"/>
          </a:xfrm>
          <a:prstGeom prst="rect">
            <a:avLst/>
          </a:prstGeom>
          <a:noFill/>
        </p:spPr>
        <p:txBody>
          <a:bodyPr wrap="square">
            <a:spAutoFit/>
          </a:bodyPr>
          <a:lstStyle/>
          <a:p>
            <a:pPr>
              <a:spcAft>
                <a:spcPts val="1000"/>
              </a:spcAft>
              <a:defRPr sz="1700">
                <a:solidFill>
                  <a:srgbClr val="CCCCCC"/>
                </a:solidFill>
                <a:latin typeface="Calibri"/>
              </a:defRPr>
            </a:pPr>
            <a:r>
              <a:t>• Work done at home by families</a:t>
            </a:r>
          </a:p>
          <a:p>
            <a:pPr>
              <a:spcAft>
                <a:spcPts val="1000"/>
              </a:spcAft>
              <a:defRPr sz="1700">
                <a:solidFill>
                  <a:srgbClr val="CCCCCC"/>
                </a:solidFill>
                <a:latin typeface="Calibri"/>
              </a:defRPr>
            </a:pPr>
            <a:r>
              <a:t>• Hand tools and simple machines</a:t>
            </a:r>
          </a:p>
          <a:p>
            <a:pPr>
              <a:spcAft>
                <a:spcPts val="1000"/>
              </a:spcAft>
              <a:defRPr sz="1700">
                <a:solidFill>
                  <a:srgbClr val="CCCCCC"/>
                </a:solidFill>
                <a:latin typeface="Calibri"/>
              </a:defRPr>
            </a:pPr>
            <a:r>
              <a:t>• Small-scale, slow production</a:t>
            </a:r>
          </a:p>
          <a:p>
            <a:pPr>
              <a:spcAft>
                <a:spcPts val="1000"/>
              </a:spcAft>
              <a:defRPr sz="1700">
                <a:solidFill>
                  <a:srgbClr val="CCCCCC"/>
                </a:solidFill>
                <a:latin typeface="Calibri"/>
              </a:defRPr>
            </a:pPr>
            <a:r>
              <a:t>• Flexible hours, own pace</a:t>
            </a:r>
          </a:p>
          <a:p>
            <a:pPr>
              <a:spcAft>
                <a:spcPts val="1000"/>
              </a:spcAft>
              <a:defRPr sz="1700">
                <a:solidFill>
                  <a:srgbClr val="CCCCCC"/>
                </a:solidFill>
                <a:latin typeface="Calibri"/>
              </a:defRPr>
            </a:pPr>
            <a:r>
              <a:t>• Products sold locally</a:t>
            </a:r>
          </a:p>
        </p:txBody>
      </p:sp>
      <p:sp>
        <p:nvSpPr>
          <p:cNvPr id="8" name="TextBox 7"/>
          <p:cNvSpPr txBox="1"/>
          <p:nvPr/>
        </p:nvSpPr>
        <p:spPr>
          <a:xfrm>
            <a:off x="5577840" y="3200400"/>
            <a:ext cx="914400" cy="914400"/>
          </a:xfrm>
          <a:prstGeom prst="rect">
            <a:avLst/>
          </a:prstGeom>
          <a:noFill/>
        </p:spPr>
        <p:txBody>
          <a:bodyPr wrap="square">
            <a:spAutoFit/>
          </a:bodyPr>
          <a:lstStyle/>
          <a:p>
            <a:pPr algn="ctr">
              <a:defRPr sz="4800" b="1">
                <a:solidFill>
                  <a:srgbClr val="E89B3A"/>
                </a:solidFill>
                <a:latin typeface="Calibri"/>
              </a:defRPr>
            </a:pPr>
            <a:r>
              <a:t>→</a:t>
            </a:r>
          </a:p>
        </p:txBody>
      </p:sp>
      <p:sp>
        <p:nvSpPr>
          <p:cNvPr id="9" name="Rectangle 8"/>
          <p:cNvSpPr/>
          <p:nvPr/>
        </p:nvSpPr>
        <p:spPr>
          <a:xfrm>
            <a:off x="6400800" y="1645920"/>
            <a:ext cx="5029200" cy="438912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0" y="1737360"/>
            <a:ext cx="4572000" cy="548640"/>
          </a:xfrm>
          <a:prstGeom prst="rect">
            <a:avLst/>
          </a:prstGeom>
          <a:noFill/>
        </p:spPr>
        <p:txBody>
          <a:bodyPr wrap="square">
            <a:spAutoFit/>
          </a:bodyPr>
          <a:lstStyle/>
          <a:p>
            <a:pPr algn="l">
              <a:defRPr sz="2200" b="1">
                <a:solidFill>
                  <a:srgbClr val="E89B3A"/>
                </a:solidFill>
                <a:latin typeface="Calibri"/>
              </a:defRPr>
            </a:pPr>
            <a:r>
              <a:t>🏭  After: Factory System</a:t>
            </a:r>
          </a:p>
        </p:txBody>
      </p:sp>
      <p:sp>
        <p:nvSpPr>
          <p:cNvPr id="11" name="TextBox 10"/>
          <p:cNvSpPr txBox="1"/>
          <p:nvPr/>
        </p:nvSpPr>
        <p:spPr>
          <a:xfrm>
            <a:off x="6858000" y="2377440"/>
            <a:ext cx="4389120" cy="3200400"/>
          </a:xfrm>
          <a:prstGeom prst="rect">
            <a:avLst/>
          </a:prstGeom>
          <a:noFill/>
        </p:spPr>
        <p:txBody>
          <a:bodyPr wrap="square">
            <a:spAutoFit/>
          </a:bodyPr>
          <a:lstStyle/>
          <a:p>
            <a:pPr>
              <a:spcAft>
                <a:spcPts val="1000"/>
              </a:spcAft>
              <a:defRPr sz="1700">
                <a:solidFill>
                  <a:srgbClr val="FFFFFF"/>
                </a:solidFill>
                <a:latin typeface="Calibri"/>
              </a:defRPr>
            </a:pPr>
            <a:r>
              <a:t>• Centralized workplaces</a:t>
            </a:r>
          </a:p>
          <a:p>
            <a:pPr>
              <a:spcAft>
                <a:spcPts val="1000"/>
              </a:spcAft>
              <a:defRPr sz="1700">
                <a:solidFill>
                  <a:srgbClr val="FFFFFF"/>
                </a:solidFill>
                <a:latin typeface="Calibri"/>
              </a:defRPr>
            </a:pPr>
            <a:r>
              <a:t>• Powered machinery, division of labor</a:t>
            </a:r>
          </a:p>
          <a:p>
            <a:pPr>
              <a:spcAft>
                <a:spcPts val="1000"/>
              </a:spcAft>
              <a:defRPr sz="1700">
                <a:solidFill>
                  <a:srgbClr val="FFFFFF"/>
                </a:solidFill>
                <a:latin typeface="Calibri"/>
              </a:defRPr>
            </a:pPr>
            <a:r>
              <a:t>• Mass production at high speed</a:t>
            </a:r>
          </a:p>
          <a:p>
            <a:pPr>
              <a:spcAft>
                <a:spcPts val="1000"/>
              </a:spcAft>
              <a:defRPr sz="1700">
                <a:solidFill>
                  <a:srgbClr val="FFFFFF"/>
                </a:solidFill>
                <a:latin typeface="Calibri"/>
              </a:defRPr>
            </a:pPr>
            <a:r>
              <a:t>• Fixed hours, strict discipline</a:t>
            </a:r>
          </a:p>
          <a:p>
            <a:pPr>
              <a:spcAft>
                <a:spcPts val="1000"/>
              </a:spcAft>
              <a:defRPr sz="1700">
                <a:solidFill>
                  <a:srgbClr val="FFFFFF"/>
                </a:solidFill>
                <a:latin typeface="Calibri"/>
              </a:defRPr>
            </a:pPr>
            <a:r>
              <a:t>• Products sold nationally &amp; globally</a:t>
            </a:r>
          </a:p>
        </p:txBody>
      </p:sp>
      <p:sp>
        <p:nvSpPr>
          <p:cNvPr id="12" name="TextBox 11"/>
          <p:cNvSpPr txBox="1"/>
          <p:nvPr/>
        </p:nvSpPr>
        <p:spPr>
          <a:xfrm>
            <a:off x="10820095" y="6309360"/>
            <a:ext cx="1188720" cy="365760"/>
          </a:xfrm>
          <a:prstGeom prst="rect">
            <a:avLst/>
          </a:prstGeom>
          <a:noFill/>
        </p:spPr>
        <p:txBody>
          <a:bodyPr wrap="square">
            <a:spAutoFit/>
          </a:bodyPr>
          <a:lstStyle/>
          <a:p>
            <a:pPr algn="r">
              <a:defRPr sz="1100" b="0">
                <a:solidFill>
                  <a:srgbClr val="CCCCCC"/>
                </a:solidFill>
                <a:latin typeface="Calibri"/>
              </a:defRPr>
            </a:pPr>
            <a:r>
              <a:t>5 /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9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9144000" cy="731520"/>
          </a:xfrm>
          <a:prstGeom prst="rect">
            <a:avLst/>
          </a:prstGeom>
          <a:noFill/>
        </p:spPr>
        <p:txBody>
          <a:bodyPr wrap="square">
            <a:spAutoFit/>
          </a:bodyPr>
          <a:lstStyle/>
          <a:p>
            <a:pPr algn="l">
              <a:defRPr sz="3400" b="1">
                <a:solidFill>
                  <a:srgbClr val="FFFFFF"/>
                </a:solidFill>
                <a:latin typeface="Calibri"/>
              </a:defRPr>
            </a:pPr>
            <a:r>
              <a:t>Social Impact: Light and Shadow</a:t>
            </a:r>
          </a:p>
        </p:txBody>
      </p:sp>
      <p:sp>
        <p:nvSpPr>
          <p:cNvPr id="4" name="Rectangle 3"/>
          <p:cNvSpPr/>
          <p:nvPr/>
        </p:nvSpPr>
        <p:spPr>
          <a:xfrm>
            <a:off x="731520" y="1188720"/>
            <a:ext cx="2743200" cy="38100"/>
          </a:xfrm>
          <a:prstGeom prst="rect">
            <a:avLst/>
          </a:prstGeom>
          <a:solidFill>
            <a:srgbClr val="E89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5029200" cy="457200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4572000" cy="548640"/>
          </a:xfrm>
          <a:prstGeom prst="rect">
            <a:avLst/>
          </a:prstGeom>
          <a:noFill/>
        </p:spPr>
        <p:txBody>
          <a:bodyPr wrap="square">
            <a:spAutoFit/>
          </a:bodyPr>
          <a:lstStyle/>
          <a:p>
            <a:pPr algn="l">
              <a:defRPr sz="2200" b="1">
                <a:solidFill>
                  <a:srgbClr val="4EC94E"/>
                </a:solidFill>
                <a:latin typeface="Calibri"/>
              </a:defRPr>
            </a:pPr>
            <a:r>
              <a:t>✅  Positive Changes</a:t>
            </a:r>
          </a:p>
        </p:txBody>
      </p:sp>
      <p:sp>
        <p:nvSpPr>
          <p:cNvPr id="7" name="TextBox 6"/>
          <p:cNvSpPr txBox="1"/>
          <p:nvPr/>
        </p:nvSpPr>
        <p:spPr>
          <a:xfrm>
            <a:off x="1188720" y="2377440"/>
            <a:ext cx="4389120" cy="3474720"/>
          </a:xfrm>
          <a:prstGeom prst="rect">
            <a:avLst/>
          </a:prstGeom>
          <a:noFill/>
        </p:spPr>
        <p:txBody>
          <a:bodyPr wrap="square">
            <a:spAutoFit/>
          </a:bodyPr>
          <a:lstStyle/>
          <a:p>
            <a:pPr>
              <a:spcAft>
                <a:spcPts val="1000"/>
              </a:spcAft>
              <a:defRPr sz="1700">
                <a:solidFill>
                  <a:srgbClr val="CCCCCC"/>
                </a:solidFill>
                <a:latin typeface="Calibri"/>
              </a:defRPr>
            </a:pPr>
            <a:r>
              <a:t>• Urbanization — growth of cities</a:t>
            </a:r>
          </a:p>
          <a:p>
            <a:pPr>
              <a:spcAft>
                <a:spcPts val="1000"/>
              </a:spcAft>
              <a:defRPr sz="1700">
                <a:solidFill>
                  <a:srgbClr val="CCCCCC"/>
                </a:solidFill>
                <a:latin typeface="Calibri"/>
              </a:defRPr>
            </a:pPr>
            <a:r>
              <a:t>• New job opportunities in factories</a:t>
            </a:r>
          </a:p>
          <a:p>
            <a:pPr>
              <a:spcAft>
                <a:spcPts val="1000"/>
              </a:spcAft>
              <a:defRPr sz="1700">
                <a:solidFill>
                  <a:srgbClr val="CCCCCC"/>
                </a:solidFill>
                <a:latin typeface="Calibri"/>
              </a:defRPr>
            </a:pPr>
            <a:r>
              <a:t>• Cheaper goods for consumers</a:t>
            </a:r>
          </a:p>
          <a:p>
            <a:pPr>
              <a:spcAft>
                <a:spcPts val="1000"/>
              </a:spcAft>
              <a:defRPr sz="1700">
                <a:solidFill>
                  <a:srgbClr val="CCCCCC"/>
                </a:solidFill>
                <a:latin typeface="Calibri"/>
              </a:defRPr>
            </a:pPr>
            <a:r>
              <a:t>• Advances in transportation (railways)</a:t>
            </a:r>
          </a:p>
          <a:p>
            <a:pPr>
              <a:spcAft>
                <a:spcPts val="1000"/>
              </a:spcAft>
              <a:defRPr sz="1700">
                <a:solidFill>
                  <a:srgbClr val="CCCCCC"/>
                </a:solidFill>
                <a:latin typeface="Calibri"/>
              </a:defRPr>
            </a:pPr>
            <a:r>
              <a:t>• Rise of the middle class</a:t>
            </a:r>
          </a:p>
          <a:p>
            <a:pPr>
              <a:spcAft>
                <a:spcPts val="1000"/>
              </a:spcAft>
              <a:defRPr sz="1700">
                <a:solidFill>
                  <a:srgbClr val="CCCCCC"/>
                </a:solidFill>
                <a:latin typeface="Calibri"/>
              </a:defRPr>
            </a:pPr>
            <a:r>
              <a:t>• Technological progress &amp; innovation</a:t>
            </a:r>
          </a:p>
        </p:txBody>
      </p:sp>
      <p:sp>
        <p:nvSpPr>
          <p:cNvPr id="8" name="Rectangle 7"/>
          <p:cNvSpPr/>
          <p:nvPr/>
        </p:nvSpPr>
        <p:spPr>
          <a:xfrm>
            <a:off x="6400800" y="1645920"/>
            <a:ext cx="5029200" cy="457200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1737360"/>
            <a:ext cx="4572000" cy="548640"/>
          </a:xfrm>
          <a:prstGeom prst="rect">
            <a:avLst/>
          </a:prstGeom>
          <a:noFill/>
        </p:spPr>
        <p:txBody>
          <a:bodyPr wrap="square">
            <a:spAutoFit/>
          </a:bodyPr>
          <a:lstStyle/>
          <a:p>
            <a:pPr algn="l">
              <a:defRPr sz="2200" b="1">
                <a:solidFill>
                  <a:srgbClr val="E85C5C"/>
                </a:solidFill>
                <a:latin typeface="Calibri"/>
              </a:defRPr>
            </a:pPr>
            <a:r>
              <a:t>❌  Dark Side</a:t>
            </a:r>
          </a:p>
        </p:txBody>
      </p:sp>
      <p:sp>
        <p:nvSpPr>
          <p:cNvPr id="10" name="TextBox 9"/>
          <p:cNvSpPr txBox="1"/>
          <p:nvPr/>
        </p:nvSpPr>
        <p:spPr>
          <a:xfrm>
            <a:off x="6858000" y="2377440"/>
            <a:ext cx="4389120" cy="3474720"/>
          </a:xfrm>
          <a:prstGeom prst="rect">
            <a:avLst/>
          </a:prstGeom>
          <a:noFill/>
        </p:spPr>
        <p:txBody>
          <a:bodyPr wrap="square">
            <a:spAutoFit/>
          </a:bodyPr>
          <a:lstStyle/>
          <a:p>
            <a:pPr>
              <a:spcAft>
                <a:spcPts val="1000"/>
              </a:spcAft>
              <a:defRPr sz="1700">
                <a:solidFill>
                  <a:srgbClr val="CCCCCC"/>
                </a:solidFill>
                <a:latin typeface="Calibri"/>
              </a:defRPr>
            </a:pPr>
            <a:r>
              <a:t>• Harsh working conditions</a:t>
            </a:r>
          </a:p>
          <a:p>
            <a:pPr>
              <a:spcAft>
                <a:spcPts val="1000"/>
              </a:spcAft>
              <a:defRPr sz="1700">
                <a:solidFill>
                  <a:srgbClr val="CCCCCC"/>
                </a:solidFill>
                <a:latin typeface="Calibri"/>
              </a:defRPr>
            </a:pPr>
            <a:r>
              <a:t>• Child labor was widespread</a:t>
            </a:r>
          </a:p>
          <a:p>
            <a:pPr>
              <a:spcAft>
                <a:spcPts val="1000"/>
              </a:spcAft>
              <a:defRPr sz="1700">
                <a:solidFill>
                  <a:srgbClr val="CCCCCC"/>
                </a:solidFill>
                <a:latin typeface="Calibri"/>
              </a:defRPr>
            </a:pPr>
            <a:r>
              <a:t>• Overcrowded, polluted cities</a:t>
            </a:r>
          </a:p>
          <a:p>
            <a:pPr>
              <a:spcAft>
                <a:spcPts val="1000"/>
              </a:spcAft>
              <a:defRPr sz="1700">
                <a:solidFill>
                  <a:srgbClr val="CCCCCC"/>
                </a:solidFill>
                <a:latin typeface="Calibri"/>
              </a:defRPr>
            </a:pPr>
            <a:r>
              <a:t>• Low wages, long working hours</a:t>
            </a:r>
          </a:p>
          <a:p>
            <a:pPr>
              <a:spcAft>
                <a:spcPts val="1000"/>
              </a:spcAft>
              <a:defRPr sz="1700">
                <a:solidFill>
                  <a:srgbClr val="CCCCCC"/>
                </a:solidFill>
                <a:latin typeface="Calibri"/>
              </a:defRPr>
            </a:pPr>
            <a:r>
              <a:t>• Loss of skilled artisan jobs</a:t>
            </a:r>
          </a:p>
          <a:p>
            <a:pPr>
              <a:spcAft>
                <a:spcPts val="1000"/>
              </a:spcAft>
              <a:defRPr sz="1700">
                <a:solidFill>
                  <a:srgbClr val="CCCCCC"/>
                </a:solidFill>
                <a:latin typeface="Calibri"/>
              </a:defRPr>
            </a:pPr>
            <a:r>
              <a:t>• Environmental degradation</a:t>
            </a:r>
          </a:p>
        </p:txBody>
      </p:sp>
      <p:sp>
        <p:nvSpPr>
          <p:cNvPr id="11" name="TextBox 10"/>
          <p:cNvSpPr txBox="1"/>
          <p:nvPr/>
        </p:nvSpPr>
        <p:spPr>
          <a:xfrm>
            <a:off x="10820095" y="6309360"/>
            <a:ext cx="1188720" cy="365760"/>
          </a:xfrm>
          <a:prstGeom prst="rect">
            <a:avLst/>
          </a:prstGeom>
          <a:noFill/>
        </p:spPr>
        <p:txBody>
          <a:bodyPr wrap="square">
            <a:spAutoFit/>
          </a:bodyPr>
          <a:lstStyle/>
          <a:p>
            <a:pPr algn="r">
              <a:defRPr sz="1100" b="0">
                <a:solidFill>
                  <a:srgbClr val="CCCCCC"/>
                </a:solidFill>
                <a:latin typeface="Calibri"/>
              </a:defRPr>
            </a:pPr>
            <a:r>
              <a:t>6 /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9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9144000" cy="731520"/>
          </a:xfrm>
          <a:prstGeom prst="rect">
            <a:avLst/>
          </a:prstGeom>
          <a:noFill/>
        </p:spPr>
        <p:txBody>
          <a:bodyPr wrap="square">
            <a:spAutoFit/>
          </a:bodyPr>
          <a:lstStyle/>
          <a:p>
            <a:pPr algn="l">
              <a:defRPr sz="3400" b="1">
                <a:solidFill>
                  <a:srgbClr val="FFFFFF"/>
                </a:solidFill>
                <a:latin typeface="Calibri"/>
              </a:defRPr>
            </a:pPr>
            <a:r>
              <a:t>Global Legacy: Why It Still Matters</a:t>
            </a:r>
          </a:p>
        </p:txBody>
      </p:sp>
      <p:sp>
        <p:nvSpPr>
          <p:cNvPr id="4" name="Rectangle 3"/>
          <p:cNvSpPr/>
          <p:nvPr/>
        </p:nvSpPr>
        <p:spPr>
          <a:xfrm>
            <a:off x="731520" y="1188720"/>
            <a:ext cx="2743200" cy="38100"/>
          </a:xfrm>
          <a:prstGeom prst="rect">
            <a:avLst/>
          </a:prstGeom>
          <a:solidFill>
            <a:srgbClr val="E89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645920"/>
            <a:ext cx="9144000" cy="3657600"/>
          </a:xfrm>
          <a:prstGeom prst="rect">
            <a:avLst/>
          </a:prstGeom>
          <a:noFill/>
        </p:spPr>
        <p:txBody>
          <a:bodyPr wrap="square">
            <a:spAutoFit/>
          </a:bodyPr>
          <a:lstStyle/>
          <a:p>
            <a:pPr>
              <a:spcAft>
                <a:spcPts val="1800"/>
              </a:spcAft>
              <a:defRPr sz="2100">
                <a:solidFill>
                  <a:srgbClr val="CCCCCC"/>
                </a:solidFill>
                <a:latin typeface="Calibri"/>
              </a:defRPr>
            </a:pPr>
            <a:r>
              <a:t>🔄  Set the pattern for all future industrial revolutions (2nd, 3rd, 4th)</a:t>
            </a:r>
          </a:p>
          <a:p>
            <a:pPr>
              <a:spcAft>
                <a:spcPts val="1800"/>
              </a:spcAft>
              <a:defRPr sz="2100">
                <a:solidFill>
                  <a:srgbClr val="CCCCCC"/>
                </a:solidFill>
                <a:latin typeface="Calibri"/>
              </a:defRPr>
            </a:pPr>
            <a:r>
              <a:t>🌐  Globalization — connected economies and cultures worldwide</a:t>
            </a:r>
          </a:p>
          <a:p>
            <a:pPr>
              <a:spcAft>
                <a:spcPts val="1800"/>
              </a:spcAft>
              <a:defRPr sz="2100">
                <a:solidFill>
                  <a:srgbClr val="CCCCCC"/>
                </a:solidFill>
                <a:latin typeface="Calibri"/>
              </a:defRPr>
            </a:pPr>
            <a:r>
              <a:t>🏙️  Shaped modern urban life — the way we live, work, and commute</a:t>
            </a:r>
          </a:p>
          <a:p>
            <a:pPr>
              <a:spcAft>
                <a:spcPts val="1800"/>
              </a:spcAft>
              <a:defRPr sz="2100">
                <a:solidFill>
                  <a:srgbClr val="CCCCCC"/>
                </a:solidFill>
                <a:latin typeface="Calibri"/>
              </a:defRPr>
            </a:pPr>
            <a:r>
              <a:t>⚖️  Sparked debates on workers' rights, inequality, and regulation</a:t>
            </a:r>
          </a:p>
          <a:p>
            <a:pPr>
              <a:spcAft>
                <a:spcPts val="1800"/>
              </a:spcAft>
              <a:defRPr sz="2100">
                <a:solidFill>
                  <a:srgbClr val="CCCCCC"/>
                </a:solidFill>
                <a:latin typeface="Calibri"/>
              </a:defRPr>
            </a:pPr>
            <a:r>
              <a:t>🌱  Raised early awareness of environmental impact</a:t>
            </a:r>
          </a:p>
          <a:p>
            <a:pPr>
              <a:spcAft>
                <a:spcPts val="1800"/>
              </a:spcAft>
              <a:defRPr sz="2100">
                <a:solidFill>
                  <a:srgbClr val="CCCCCC"/>
                </a:solidFill>
                <a:latin typeface="Calibri"/>
              </a:defRPr>
            </a:pPr>
            <a:r>
              <a:t>💡  Proved that technology can fundamentally reshape civilization</a:t>
            </a:r>
          </a:p>
        </p:txBody>
      </p:sp>
      <p:sp>
        <p:nvSpPr>
          <p:cNvPr id="6" name="Rectangle 5"/>
          <p:cNvSpPr/>
          <p:nvPr/>
        </p:nvSpPr>
        <p:spPr>
          <a:xfrm>
            <a:off x="2286000" y="4846320"/>
            <a:ext cx="7589520" cy="118872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0" y="4937760"/>
            <a:ext cx="7040880" cy="1005840"/>
          </a:xfrm>
          <a:prstGeom prst="rect">
            <a:avLst/>
          </a:prstGeom>
          <a:noFill/>
        </p:spPr>
        <p:txBody>
          <a:bodyPr wrap="square">
            <a:spAutoFit/>
          </a:bodyPr>
          <a:lstStyle/>
          <a:p>
            <a:pPr algn="ctr">
              <a:defRPr sz="1500" b="0">
                <a:solidFill>
                  <a:srgbClr val="AABBCC"/>
                </a:solidFill>
                <a:latin typeface="Calibri"/>
              </a:defRPr>
            </a:pPr>
            <a:r>
              <a:t>"The Industrial Revolution was the most important event in the history of humanity since the domestication of animals and plants."</a:t>
            </a:r>
            <a:br/>
            <a:r>
              <a:t>— Historian Eric Hobsbawm</a:t>
            </a:r>
          </a:p>
        </p:txBody>
      </p:sp>
      <p:sp>
        <p:nvSpPr>
          <p:cNvPr id="8" name="TextBox 7"/>
          <p:cNvSpPr txBox="1"/>
          <p:nvPr/>
        </p:nvSpPr>
        <p:spPr>
          <a:xfrm>
            <a:off x="10820095" y="6309360"/>
            <a:ext cx="1188720" cy="365760"/>
          </a:xfrm>
          <a:prstGeom prst="rect">
            <a:avLst/>
          </a:prstGeom>
          <a:noFill/>
        </p:spPr>
        <p:txBody>
          <a:bodyPr wrap="square">
            <a:spAutoFit/>
          </a:bodyPr>
          <a:lstStyle/>
          <a:p>
            <a:pPr algn="r">
              <a:defRPr sz="1100" b="0">
                <a:solidFill>
                  <a:srgbClr val="CCCCCC"/>
                </a:solidFill>
                <a:latin typeface="Calibri"/>
              </a:defRPr>
            </a:pPr>
            <a:r>
              <a:t>7 /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9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371600"/>
            <a:ext cx="9144000" cy="914400"/>
          </a:xfrm>
          <a:prstGeom prst="rect">
            <a:avLst/>
          </a:prstGeom>
          <a:noFill/>
        </p:spPr>
        <p:txBody>
          <a:bodyPr wrap="square">
            <a:spAutoFit/>
          </a:bodyPr>
          <a:lstStyle/>
          <a:p>
            <a:pPr algn="ctr">
              <a:defRPr sz="3400" b="1">
                <a:solidFill>
                  <a:srgbClr val="FFFFFF"/>
                </a:solidFill>
                <a:latin typeface="Calibri"/>
              </a:defRPr>
            </a:pPr>
            <a:r>
              <a:t>Key Takeaways</a:t>
            </a:r>
          </a:p>
        </p:txBody>
      </p:sp>
      <p:sp>
        <p:nvSpPr>
          <p:cNvPr id="4" name="Rectangle 3"/>
          <p:cNvSpPr/>
          <p:nvPr/>
        </p:nvSpPr>
        <p:spPr>
          <a:xfrm>
            <a:off x="4572000" y="2194560"/>
            <a:ext cx="2743200" cy="38100"/>
          </a:xfrm>
          <a:prstGeom prst="rect">
            <a:avLst/>
          </a:prstGeom>
          <a:solidFill>
            <a:srgbClr val="E89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0" y="2560320"/>
            <a:ext cx="7315200" cy="2743200"/>
          </a:xfrm>
          <a:prstGeom prst="rect">
            <a:avLst/>
          </a:prstGeom>
          <a:noFill/>
        </p:spPr>
        <p:txBody>
          <a:bodyPr wrap="square">
            <a:spAutoFit/>
          </a:bodyPr>
          <a:lstStyle/>
          <a:p>
            <a:pPr>
              <a:spcAft>
                <a:spcPts val="1200"/>
              </a:spcAft>
              <a:defRPr sz="2000">
                <a:solidFill>
                  <a:srgbClr val="CCCCCC"/>
                </a:solidFill>
                <a:latin typeface="Calibri"/>
              </a:defRPr>
            </a:pPr>
            <a:r>
              <a:t>1️⃣  The First Industrial Revolution (1760–1840) began in Britain</a:t>
            </a:r>
          </a:p>
          <a:p>
            <a:pPr>
              <a:spcAft>
                <a:spcPts val="1200"/>
              </a:spcAft>
              <a:defRPr sz="2000">
                <a:solidFill>
                  <a:srgbClr val="CCCCCC"/>
                </a:solidFill>
                <a:latin typeface="Calibri"/>
              </a:defRPr>
            </a:pPr>
            <a:r>
              <a:t>2️⃣  Steam power and textile machines drove the transformation</a:t>
            </a:r>
          </a:p>
          <a:p>
            <a:pPr>
              <a:spcAft>
                <a:spcPts val="1200"/>
              </a:spcAft>
              <a:defRPr sz="2000">
                <a:solidFill>
                  <a:srgbClr val="CCCCCC"/>
                </a:solidFill>
                <a:latin typeface="Calibri"/>
              </a:defRPr>
            </a:pPr>
            <a:r>
              <a:t>3️⃣  The factory system replaced cottage industry</a:t>
            </a:r>
          </a:p>
          <a:p>
            <a:pPr>
              <a:spcAft>
                <a:spcPts val="1200"/>
              </a:spcAft>
              <a:defRPr sz="2000">
                <a:solidFill>
                  <a:srgbClr val="CCCCCC"/>
                </a:solidFill>
                <a:latin typeface="Calibri"/>
              </a:defRPr>
            </a:pPr>
            <a:r>
              <a:t>4️⃣  It brought both progress and suffering</a:t>
            </a:r>
          </a:p>
          <a:p>
            <a:pPr>
              <a:spcAft>
                <a:spcPts val="1200"/>
              </a:spcAft>
              <a:defRPr sz="2000">
                <a:solidFill>
                  <a:srgbClr val="CCCCCC"/>
                </a:solidFill>
                <a:latin typeface="Calibri"/>
              </a:defRPr>
            </a:pPr>
            <a:r>
              <a:t>5️⃣  Its legacy shapes our world to this day</a:t>
            </a:r>
          </a:p>
        </p:txBody>
      </p:sp>
      <p:sp>
        <p:nvSpPr>
          <p:cNvPr id="6" name="TextBox 5"/>
          <p:cNvSpPr txBox="1"/>
          <p:nvPr/>
        </p:nvSpPr>
        <p:spPr>
          <a:xfrm>
            <a:off x="1371600" y="5029200"/>
            <a:ext cx="9144000" cy="731520"/>
          </a:xfrm>
          <a:prstGeom prst="rect">
            <a:avLst/>
          </a:prstGeom>
          <a:noFill/>
        </p:spPr>
        <p:txBody>
          <a:bodyPr wrap="square">
            <a:spAutoFit/>
          </a:bodyPr>
          <a:lstStyle/>
          <a:p>
            <a:pPr algn="ctr">
              <a:defRPr sz="3600" b="1">
                <a:solidFill>
                  <a:srgbClr val="E89B3A"/>
                </a:solidFill>
                <a:latin typeface="Calibri"/>
              </a:defRPr>
            </a:pPr>
            <a:r>
              <a:t>Thank You!</a:t>
            </a:r>
          </a:p>
        </p:txBody>
      </p:sp>
      <p:sp>
        <p:nvSpPr>
          <p:cNvPr id="7" name="TextBox 6"/>
          <p:cNvSpPr txBox="1"/>
          <p:nvPr/>
        </p:nvSpPr>
        <p:spPr>
          <a:xfrm>
            <a:off x="1371600" y="5669280"/>
            <a:ext cx="9144000" cy="457200"/>
          </a:xfrm>
          <a:prstGeom prst="rect">
            <a:avLst/>
          </a:prstGeom>
          <a:noFill/>
        </p:spPr>
        <p:txBody>
          <a:bodyPr wrap="square">
            <a:spAutoFit/>
          </a:bodyPr>
          <a:lstStyle/>
          <a:p>
            <a:pPr algn="ctr">
              <a:defRPr sz="1800" b="0">
                <a:solidFill>
                  <a:srgbClr val="AABBCC"/>
                </a:solidFill>
                <a:latin typeface="Calibri"/>
              </a:defRPr>
            </a:pPr>
            <a:r>
              <a:t>Questions &amp; Discussion Welcome 🙋</a:t>
            </a:r>
          </a:p>
        </p:txBody>
      </p:sp>
      <p:sp>
        <p:nvSpPr>
          <p:cNvPr id="8" name="TextBox 7"/>
          <p:cNvSpPr txBox="1"/>
          <p:nvPr/>
        </p:nvSpPr>
        <p:spPr>
          <a:xfrm>
            <a:off x="10820095" y="6309360"/>
            <a:ext cx="1188720" cy="365760"/>
          </a:xfrm>
          <a:prstGeom prst="rect">
            <a:avLst/>
          </a:prstGeom>
          <a:noFill/>
        </p:spPr>
        <p:txBody>
          <a:bodyPr wrap="square">
            <a:spAutoFit/>
          </a:bodyPr>
          <a:lstStyle/>
          <a:p>
            <a:pPr algn="r">
              <a:defRPr sz="1100" b="0">
                <a:solidFill>
                  <a:srgbClr val="CCCCCC"/>
                </a:solidFill>
                <a:latin typeface="Calibri"/>
              </a:defRPr>
            </a:pPr>
            <a:r>
              <a:t>8 /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